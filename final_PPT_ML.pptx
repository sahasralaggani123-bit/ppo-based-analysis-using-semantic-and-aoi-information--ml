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" charset="1" panose="020F0502020204030204"/>
      <p:regular r:id="rId17"/>
    </p:embeddedFont>
    <p:embeddedFont>
      <p:font typeface="Arial Bold" charset="1" panose="020B0704020202020204"/>
      <p:regular r:id="rId18"/>
    </p:embeddedFont>
    <p:embeddedFont>
      <p:font typeface="Calibri (MS) Italics" charset="1" panose="020F05020202040A0204"/>
      <p:regular r:id="rId19"/>
    </p:embeddedFont>
    <p:embeddedFont>
      <p:font typeface="Calibri (MS) Bold" charset="1" panose="020F0702030404030204"/>
      <p:regular r:id="rId20"/>
    </p:embeddedFont>
    <p:embeddedFont>
      <p:font typeface="Arial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3262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University Bachupally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96360" y="9532620"/>
            <a:ext cx="891540" cy="411480"/>
            <a:chOff x="0" y="0"/>
            <a:chExt cx="118872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887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529435" y="950595"/>
            <a:ext cx="2762250" cy="2762250"/>
            <a:chOff x="0" y="0"/>
            <a:chExt cx="3683000" cy="368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83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E6EBF6"/>
            </a:solidFill>
            <a:ln w="19050" cap="sq">
              <a:solidFill>
                <a:srgbClr val="E6EBF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449675" y="3007995"/>
            <a:ext cx="1116330" cy="1116330"/>
            <a:chOff x="0" y="0"/>
            <a:chExt cx="1488440" cy="1488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F1F4FA"/>
            </a:solidFill>
            <a:ln w="19050" cap="sq">
              <a:solidFill>
                <a:srgbClr val="D5DBE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706475" y="3693795"/>
            <a:ext cx="842010" cy="842010"/>
            <a:chOff x="0" y="0"/>
            <a:chExt cx="1122680" cy="1122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F1F4FA"/>
            </a:solidFill>
            <a:ln w="19050" cap="sq">
              <a:solidFill>
                <a:srgbClr val="D5DBEA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22960" y="1215390"/>
            <a:ext cx="12618720" cy="317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14123A"/>
                </a:solidFill>
                <a:latin typeface="Arial Bold"/>
                <a:ea typeface="Arial Bold"/>
                <a:cs typeface="Arial Bold"/>
                <a:sym typeface="Arial Bold"/>
              </a:rPr>
              <a:t>PPO-BASED SEMANTIC AND AGE-OF-INFORMATION-AWARE SCHEDULING FOR MASSIVE IOT NETWORKS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960" y="4526280"/>
            <a:ext cx="12893040" cy="685800"/>
            <a:chOff x="0" y="0"/>
            <a:chExt cx="1719072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19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71907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1E88E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Teaching an AI to decide which IoT device should send its data next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22960" y="5987415"/>
            <a:ext cx="71323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Members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M. Honeysha  –  252004085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L. Sahasra  –  2520040087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Nimisha Sri  –  2520029127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78240" y="5987415"/>
            <a:ext cx="8778240" cy="320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Guide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Venu Bajaji Vinnakota</a:t>
            </a:r>
          </a:p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Domain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Reinforcement Learning + IoT Network Scheduling</a:t>
            </a:r>
          </a:p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Technology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 |  PPO  |  Simulation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3262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University Bachupally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96360" y="9532620"/>
            <a:ext cx="891540" cy="411480"/>
            <a:chOff x="0" y="0"/>
            <a:chExt cx="118872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887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16596360" cy="1097280"/>
            <a:chOff x="0" y="0"/>
            <a:chExt cx="2212848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2848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SCHEDULING PROBLEM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000250"/>
            <a:ext cx="8641080" cy="184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Imagine 10 smart devices all wanting to send their data at the same moment. The network can only let one of them send at a time.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4114800"/>
            <a:ext cx="8229600" cy="411480"/>
            <a:chOff x="0" y="0"/>
            <a:chExt cx="109728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972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E88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KEY QUESTION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22960" y="4575810"/>
            <a:ext cx="8641080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4123A"/>
                </a:solidFill>
                <a:latin typeface="Arial Bold"/>
                <a:ea typeface="Arial Bold"/>
                <a:cs typeface="Arial Bold"/>
                <a:sym typeface="Arial Bold"/>
              </a:rPr>
              <a:t>“Who should get the next turn to send?”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2960" y="6124575"/>
            <a:ext cx="864108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Only chase freshness → we may miss important data</a:t>
            </a: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Only chase importance → other devices go stale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414635" y="2185035"/>
            <a:ext cx="636270" cy="636270"/>
            <a:chOff x="0" y="0"/>
            <a:chExt cx="848360" cy="848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9AA3C4"/>
            </a:solidFill>
            <a:ln w="19050" cap="sq">
              <a:solidFill>
                <a:srgbClr val="9AA3C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306175" y="2185035"/>
            <a:ext cx="636270" cy="636270"/>
            <a:chOff x="0" y="0"/>
            <a:chExt cx="848360" cy="848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9AA3C4"/>
            </a:solidFill>
            <a:ln w="19050" cap="sq">
              <a:solidFill>
                <a:srgbClr val="9AA3C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197715" y="2185035"/>
            <a:ext cx="636270" cy="636270"/>
            <a:chOff x="0" y="0"/>
            <a:chExt cx="848360" cy="848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9AA3C4"/>
            </a:solidFill>
            <a:ln w="19050" cap="sq">
              <a:solidFill>
                <a:srgbClr val="9AA3C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089255" y="2185035"/>
            <a:ext cx="636270" cy="636270"/>
            <a:chOff x="0" y="0"/>
            <a:chExt cx="848360" cy="848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22B573"/>
            </a:solidFill>
            <a:ln w="19050" cap="sq">
              <a:solidFill>
                <a:srgbClr val="22B57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980795" y="2185035"/>
            <a:ext cx="636270" cy="636270"/>
            <a:chOff x="0" y="0"/>
            <a:chExt cx="848360" cy="848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9AA3C4"/>
            </a:solidFill>
            <a:ln w="19050" cap="sq">
              <a:solidFill>
                <a:srgbClr val="9AA3C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414635" y="3076575"/>
            <a:ext cx="636270" cy="636270"/>
            <a:chOff x="0" y="0"/>
            <a:chExt cx="848360" cy="848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9AA3C4"/>
            </a:solidFill>
            <a:ln w="19050" cap="sq">
              <a:solidFill>
                <a:srgbClr val="9AA3C4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306175" y="3076575"/>
            <a:ext cx="636270" cy="636270"/>
            <a:chOff x="0" y="0"/>
            <a:chExt cx="848360" cy="848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9AA3C4"/>
            </a:solidFill>
            <a:ln w="19050" cap="sq">
              <a:solidFill>
                <a:srgbClr val="9AA3C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197715" y="3076575"/>
            <a:ext cx="636270" cy="636270"/>
            <a:chOff x="0" y="0"/>
            <a:chExt cx="848360" cy="848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9AA3C4"/>
            </a:solidFill>
            <a:ln w="19050" cap="sq">
              <a:solidFill>
                <a:srgbClr val="9AA3C4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089255" y="3076575"/>
            <a:ext cx="636270" cy="636270"/>
            <a:chOff x="0" y="0"/>
            <a:chExt cx="848360" cy="848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9AA3C4"/>
            </a:solidFill>
            <a:ln w="19050" cap="sq">
              <a:solidFill>
                <a:srgbClr val="9AA3C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3980795" y="3076575"/>
            <a:ext cx="636270" cy="636270"/>
            <a:chOff x="0" y="0"/>
            <a:chExt cx="848360" cy="848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9AA3C4"/>
            </a:solidFill>
            <a:ln w="19050" cap="sq">
              <a:solidFill>
                <a:srgbClr val="9AA3C4"/>
              </a:solidFill>
              <a:prstDash val="solid"/>
              <a:miter/>
            </a:ln>
          </p:spPr>
        </p:sp>
      </p:grpSp>
      <p:sp>
        <p:nvSpPr>
          <p:cNvPr name="AutoShape 37" id="37"/>
          <p:cNvSpPr/>
          <p:nvPr/>
        </p:nvSpPr>
        <p:spPr>
          <a:xfrm rot="140820">
            <a:off x="14999579" y="3076575"/>
            <a:ext cx="930421" cy="0"/>
          </a:xfrm>
          <a:prstGeom prst="line">
            <a:avLst/>
          </a:prstGeom>
          <a:ln cap="rnd" w="19050">
            <a:solidFill>
              <a:srgbClr val="8A90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6106775" y="2322195"/>
            <a:ext cx="1390650" cy="1390650"/>
            <a:chOff x="0" y="0"/>
            <a:chExt cx="1854200" cy="1854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22B573"/>
            </a:solidFill>
            <a:ln w="19050" cap="sq">
              <a:solidFill>
                <a:srgbClr val="22B57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6116300" y="2331720"/>
            <a:ext cx="1371600" cy="1371600"/>
            <a:chOff x="0" y="0"/>
            <a:chExt cx="1828800" cy="1828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8288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424160" y="4183380"/>
            <a:ext cx="6995160" cy="480060"/>
            <a:chOff x="0" y="0"/>
            <a:chExt cx="932688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326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F64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Many devices  →  only one turn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424160" y="5006340"/>
            <a:ext cx="6858000" cy="411480"/>
            <a:chOff x="0" y="0"/>
            <a:chExt cx="91440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E88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 THINGS WE BALANCE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414635" y="5614035"/>
            <a:ext cx="842010" cy="842010"/>
            <a:chOff x="0" y="0"/>
            <a:chExt cx="1122680" cy="11226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E88E5"/>
            </a:solidFill>
            <a:ln w="1905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424160" y="5623560"/>
            <a:ext cx="822960" cy="822960"/>
            <a:chOff x="0" y="0"/>
            <a:chExt cx="109728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521440" y="5554980"/>
            <a:ext cx="6035040" cy="1028700"/>
            <a:chOff x="0" y="0"/>
            <a:chExt cx="8046720" cy="1371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046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12" r="0" b="-6431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80467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412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Freshness (AoI)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old is the device’s last update?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414635" y="6917055"/>
            <a:ext cx="842010" cy="842010"/>
            <a:chOff x="0" y="0"/>
            <a:chExt cx="1122680" cy="1122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F5A623"/>
            </a:solidFill>
            <a:ln w="1905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0424160" y="6926580"/>
            <a:ext cx="822960" cy="822960"/>
            <a:chOff x="0" y="0"/>
            <a:chExt cx="109728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521440" y="6858000"/>
            <a:ext cx="6035040" cy="1028700"/>
            <a:chOff x="0" y="0"/>
            <a:chExt cx="8046720" cy="1371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046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12" r="0" b="-6431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80467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412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Importance (semantic)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much does this data matter?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13435" y="8220075"/>
            <a:ext cx="16683990" cy="979170"/>
            <a:chOff x="0" y="0"/>
            <a:chExt cx="22245320" cy="13055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245320" cy="1305560"/>
            </a:xfrm>
            <a:custGeom>
              <a:avLst/>
              <a:gdLst/>
              <a:ahLst/>
              <a:cxnLst/>
              <a:rect r="r" b="b" t="t" l="l"/>
              <a:pathLst>
                <a:path h="1305560" w="22245320">
                  <a:moveTo>
                    <a:pt x="0" y="279781"/>
                  </a:moveTo>
                  <a:cubicBezTo>
                    <a:pt x="0" y="125222"/>
                    <a:pt x="125222" y="0"/>
                    <a:pt x="279781" y="0"/>
                  </a:cubicBezTo>
                  <a:lnTo>
                    <a:pt x="21965538" y="0"/>
                  </a:lnTo>
                  <a:cubicBezTo>
                    <a:pt x="22120098" y="0"/>
                    <a:pt x="22245320" y="125222"/>
                    <a:pt x="22245320" y="279781"/>
                  </a:cubicBezTo>
                  <a:lnTo>
                    <a:pt x="22245320" y="1025779"/>
                  </a:lnTo>
                  <a:cubicBezTo>
                    <a:pt x="22245320" y="1180338"/>
                    <a:pt x="22120098" y="1305560"/>
                    <a:pt x="21965538" y="1305560"/>
                  </a:cubicBezTo>
                  <a:lnTo>
                    <a:pt x="279781" y="1305560"/>
                  </a:lnTo>
                  <a:cubicBezTo>
                    <a:pt x="125222" y="1305560"/>
                    <a:pt x="0" y="1180338"/>
                    <a:pt x="0" y="1025779"/>
                  </a:cubicBezTo>
                  <a:close/>
                </a:path>
              </a:pathLst>
            </a:custGeom>
            <a:solidFill>
              <a:srgbClr val="F1F4FA"/>
            </a:solidFill>
            <a:ln w="19050" cap="sq">
              <a:solidFill>
                <a:srgbClr val="D5DBEA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822960" y="8229600"/>
            <a:ext cx="16664940" cy="960120"/>
            <a:chOff x="0" y="0"/>
            <a:chExt cx="22219920" cy="12801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2219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219920">
                  <a:moveTo>
                    <a:pt x="0" y="0"/>
                  </a:moveTo>
                  <a:lnTo>
                    <a:pt x="22219920" y="0"/>
                  </a:lnTo>
                  <a:lnTo>
                    <a:pt x="222199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204" r="0" b="-28820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222199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 we need a scheduler that balances both.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3262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University Bachupally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96360" y="9532620"/>
            <a:ext cx="891540" cy="411480"/>
            <a:chOff x="0" y="0"/>
            <a:chExt cx="118872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887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16596360" cy="1097280"/>
            <a:chOff x="0" y="0"/>
            <a:chExt cx="2212848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2848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ARE WE TRYING TO ACHIEVE?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920240"/>
            <a:ext cx="16596360" cy="685800"/>
            <a:chOff x="0" y="0"/>
            <a:chExt cx="2212848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1284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412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 want a scheduler that learns, on its own, which device to pick.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3435" y="3145155"/>
            <a:ext cx="1116330" cy="1116330"/>
            <a:chOff x="0" y="0"/>
            <a:chExt cx="1488440" cy="1488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1E88E5"/>
            </a:solidFill>
            <a:ln w="1905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3154680"/>
            <a:ext cx="1097280" cy="1097280"/>
            <a:chOff x="0" y="0"/>
            <a:chExt cx="146304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4526280"/>
            <a:ext cx="5212080" cy="685800"/>
            <a:chOff x="0" y="0"/>
            <a:chExt cx="694944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49440" cy="914400"/>
            </a:xfrm>
            <a:custGeom>
              <a:avLst/>
              <a:gdLst/>
              <a:ahLst/>
              <a:cxnLst/>
              <a:rect r="r" b="b" t="t" l="l"/>
              <a:pathLst>
                <a:path h="9144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9494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Fresh data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22960" y="5233035"/>
            <a:ext cx="521208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We track how old each update is (AoI).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5F6478"/>
                </a:solidFill>
                <a:latin typeface="Calibri (MS)"/>
                <a:ea typeface="Calibri (MS)"/>
                <a:cs typeface="Calibri (MS)"/>
                <a:sym typeface="Calibri (MS)"/>
              </a:rPr>
              <a:t>Lower AoI means fresher information.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05575" y="3145155"/>
            <a:ext cx="1116330" cy="1116330"/>
            <a:chOff x="0" y="0"/>
            <a:chExt cx="1488440" cy="1488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F5A623"/>
            </a:solidFill>
            <a:ln w="1905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515100" y="3154680"/>
            <a:ext cx="1097280" cy="1097280"/>
            <a:chOff x="0" y="0"/>
            <a:chExt cx="146304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15100" y="4526280"/>
            <a:ext cx="5212080" cy="685800"/>
            <a:chOff x="0" y="0"/>
            <a:chExt cx="694944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49440" cy="914400"/>
            </a:xfrm>
            <a:custGeom>
              <a:avLst/>
              <a:gdLst/>
              <a:ahLst/>
              <a:cxnLst/>
              <a:rect r="r" b="b" t="t" l="l"/>
              <a:pathLst>
                <a:path h="9144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9494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Important data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515100" y="5233035"/>
            <a:ext cx="521208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We give each update an importance score.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5F6478"/>
                </a:solidFill>
                <a:latin typeface="Calibri (MS)"/>
                <a:ea typeface="Calibri (MS)"/>
                <a:cs typeface="Calibri (MS)"/>
                <a:sym typeface="Calibri (MS)"/>
              </a:rPr>
              <a:t>Higher score means it matters more.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197715" y="3145155"/>
            <a:ext cx="1116330" cy="1116330"/>
            <a:chOff x="0" y="0"/>
            <a:chExt cx="1488440" cy="1488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22B573"/>
            </a:solidFill>
            <a:ln w="19050" cap="sq">
              <a:solidFill>
                <a:srgbClr val="22B57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207240" y="3154680"/>
            <a:ext cx="1097280" cy="1097280"/>
            <a:chOff x="0" y="0"/>
            <a:chExt cx="146304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07240" y="4526280"/>
            <a:ext cx="5212080" cy="685800"/>
            <a:chOff x="0" y="0"/>
            <a:chExt cx="694944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49440" cy="914400"/>
            </a:xfrm>
            <a:custGeom>
              <a:avLst/>
              <a:gdLst/>
              <a:ahLst/>
              <a:cxnLst/>
              <a:rect r="r" b="b" t="t" l="l"/>
              <a:pathLst>
                <a:path h="9144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9494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Smart scheduling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207240" y="5233035"/>
            <a:ext cx="521208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We let PPO learn the decisions.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5F6478"/>
                </a:solidFill>
                <a:latin typeface="Calibri (MS)"/>
                <a:ea typeface="Calibri (MS)"/>
                <a:cs typeface="Calibri (MS)"/>
                <a:sym typeface="Calibri (MS)"/>
              </a:rPr>
              <a:t>No single fixed priority rule.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13435" y="7191375"/>
            <a:ext cx="16683990" cy="2007870"/>
            <a:chOff x="0" y="0"/>
            <a:chExt cx="22245320" cy="2677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245321" cy="2677160"/>
            </a:xfrm>
            <a:custGeom>
              <a:avLst/>
              <a:gdLst/>
              <a:ahLst/>
              <a:cxnLst/>
              <a:rect r="r" b="b" t="t" l="l"/>
              <a:pathLst>
                <a:path h="2677160" w="22245321">
                  <a:moveTo>
                    <a:pt x="0" y="276987"/>
                  </a:moveTo>
                  <a:cubicBezTo>
                    <a:pt x="0" y="123952"/>
                    <a:pt x="123952" y="0"/>
                    <a:pt x="276987" y="0"/>
                  </a:cubicBezTo>
                  <a:lnTo>
                    <a:pt x="21968333" y="0"/>
                  </a:lnTo>
                  <a:cubicBezTo>
                    <a:pt x="22121242" y="0"/>
                    <a:pt x="22245321" y="123952"/>
                    <a:pt x="22245321" y="276987"/>
                  </a:cubicBezTo>
                  <a:lnTo>
                    <a:pt x="22245321" y="2400173"/>
                  </a:lnTo>
                  <a:cubicBezTo>
                    <a:pt x="22245321" y="2553081"/>
                    <a:pt x="22121369" y="2677160"/>
                    <a:pt x="21968333" y="2677160"/>
                  </a:cubicBezTo>
                  <a:lnTo>
                    <a:pt x="276987" y="2677160"/>
                  </a:lnTo>
                  <a:cubicBezTo>
                    <a:pt x="123952" y="2677160"/>
                    <a:pt x="0" y="2553208"/>
                    <a:pt x="0" y="2400173"/>
                  </a:cubicBezTo>
                  <a:close/>
                </a:path>
              </a:pathLst>
            </a:custGeom>
            <a:solidFill>
              <a:srgbClr val="F1F4FA"/>
            </a:solidFill>
            <a:ln w="19050" cap="sq">
              <a:solidFill>
                <a:srgbClr val="D5DBE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371600" y="7406640"/>
            <a:ext cx="8229600" cy="411480"/>
            <a:chOff x="0" y="0"/>
            <a:chExt cx="109728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972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E88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RESEARCH QUESTION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371600" y="7858125"/>
            <a:ext cx="15636240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4123A"/>
                </a:solidFill>
                <a:latin typeface="Arial Bold"/>
                <a:ea typeface="Arial Bold"/>
                <a:cs typeface="Arial Bold"/>
                <a:sym typeface="Arial Bold"/>
              </a:rPr>
              <a:t>“Can PPO learn a good way to schedule devices by looking at both freshness and importance?”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3262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University Bachupally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96360" y="9532620"/>
            <a:ext cx="891540" cy="411480"/>
            <a:chOff x="0" y="0"/>
            <a:chExt cx="118872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887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16596360" cy="1097280"/>
            <a:chOff x="0" y="0"/>
            <a:chExt cx="2212848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2848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PROPOSED PPO-BASED SCHEDULING FRAMEWORK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920240"/>
            <a:ext cx="16596360" cy="685800"/>
            <a:chOff x="0" y="0"/>
            <a:chExt cx="2212848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1284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412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every time slot, the PPO agent looks at the network and decides which device gets to send.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99148" y="3405188"/>
            <a:ext cx="2927985" cy="1830705"/>
            <a:chOff x="0" y="0"/>
            <a:chExt cx="3903980" cy="24409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03980" cy="2440940"/>
            </a:xfrm>
            <a:custGeom>
              <a:avLst/>
              <a:gdLst/>
              <a:ahLst/>
              <a:cxnLst/>
              <a:rect r="r" b="b" t="t" l="l"/>
              <a:pathLst>
                <a:path h="2440940" w="3903980">
                  <a:moveTo>
                    <a:pt x="0" y="281686"/>
                  </a:moveTo>
                  <a:cubicBezTo>
                    <a:pt x="0" y="126111"/>
                    <a:pt x="126111" y="0"/>
                    <a:pt x="281686" y="0"/>
                  </a:cubicBezTo>
                  <a:lnTo>
                    <a:pt x="3622294" y="0"/>
                  </a:lnTo>
                  <a:cubicBezTo>
                    <a:pt x="3777869" y="0"/>
                    <a:pt x="3903980" y="126111"/>
                    <a:pt x="3903980" y="281686"/>
                  </a:cubicBezTo>
                  <a:lnTo>
                    <a:pt x="3903980" y="2159254"/>
                  </a:lnTo>
                  <a:cubicBezTo>
                    <a:pt x="3903980" y="2314829"/>
                    <a:pt x="3777869" y="2440940"/>
                    <a:pt x="3622294" y="2440940"/>
                  </a:cubicBezTo>
                  <a:lnTo>
                    <a:pt x="281686" y="2440940"/>
                  </a:lnTo>
                  <a:cubicBezTo>
                    <a:pt x="126111" y="2440940"/>
                    <a:pt x="0" y="2314829"/>
                    <a:pt x="0" y="2159254"/>
                  </a:cubicBezTo>
                  <a:close/>
                </a:path>
              </a:pathLst>
            </a:custGeom>
            <a:solidFill>
              <a:srgbClr val="F1F4FA"/>
            </a:solidFill>
            <a:ln w="47625" cap="sq">
              <a:solidFill>
                <a:srgbClr val="17A9B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3429000"/>
            <a:ext cx="2880360" cy="1783080"/>
            <a:chOff x="0" y="0"/>
            <a:chExt cx="3840480" cy="2377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404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384048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 Virtual IoT Devices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22960" y="5360670"/>
            <a:ext cx="288036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F6478"/>
                </a:solidFill>
                <a:latin typeface="Calibri (MS)"/>
                <a:ea typeface="Calibri (MS)"/>
                <a:cs typeface="Calibri (MS)"/>
                <a:sym typeface="Calibri (MS)"/>
              </a:rPr>
              <a:t>Each one has data waiting to be sent</a:t>
            </a:r>
          </a:p>
        </p:txBody>
      </p:sp>
      <p:sp>
        <p:nvSpPr>
          <p:cNvPr name="AutoShape 20" id="20"/>
          <p:cNvSpPr/>
          <p:nvPr/>
        </p:nvSpPr>
        <p:spPr>
          <a:xfrm rot="274020">
            <a:off x="3738372" y="4311015"/>
            <a:ext cx="478526" cy="0"/>
          </a:xfrm>
          <a:prstGeom prst="line">
            <a:avLst/>
          </a:prstGeom>
          <a:ln cap="rnd" w="19050">
            <a:solidFill>
              <a:srgbClr val="8A90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4228147" y="3405188"/>
            <a:ext cx="2927985" cy="1830705"/>
            <a:chOff x="0" y="0"/>
            <a:chExt cx="3903980" cy="24409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03980" cy="2440940"/>
            </a:xfrm>
            <a:custGeom>
              <a:avLst/>
              <a:gdLst/>
              <a:ahLst/>
              <a:cxnLst/>
              <a:rect r="r" b="b" t="t" l="l"/>
              <a:pathLst>
                <a:path h="2440940" w="3903980">
                  <a:moveTo>
                    <a:pt x="0" y="281686"/>
                  </a:moveTo>
                  <a:cubicBezTo>
                    <a:pt x="0" y="126111"/>
                    <a:pt x="126111" y="0"/>
                    <a:pt x="281686" y="0"/>
                  </a:cubicBezTo>
                  <a:lnTo>
                    <a:pt x="3622294" y="0"/>
                  </a:lnTo>
                  <a:cubicBezTo>
                    <a:pt x="3777869" y="0"/>
                    <a:pt x="3903980" y="126111"/>
                    <a:pt x="3903980" y="281686"/>
                  </a:cubicBezTo>
                  <a:lnTo>
                    <a:pt x="3903980" y="2159254"/>
                  </a:lnTo>
                  <a:cubicBezTo>
                    <a:pt x="3903980" y="2314829"/>
                    <a:pt x="3777869" y="2440940"/>
                    <a:pt x="3622294" y="2440940"/>
                  </a:cubicBezTo>
                  <a:lnTo>
                    <a:pt x="281686" y="2440940"/>
                  </a:lnTo>
                  <a:cubicBezTo>
                    <a:pt x="126111" y="2440940"/>
                    <a:pt x="0" y="2314829"/>
                    <a:pt x="0" y="2159254"/>
                  </a:cubicBezTo>
                  <a:close/>
                </a:path>
              </a:pathLst>
            </a:custGeom>
            <a:solidFill>
              <a:srgbClr val="F1F4FA"/>
            </a:solidFill>
            <a:ln w="47625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4251960" y="3429000"/>
            <a:ext cx="2880360" cy="1783080"/>
            <a:chOff x="0" y="0"/>
            <a:chExt cx="3840480" cy="2377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404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84048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Network State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251960" y="5360670"/>
            <a:ext cx="288036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F6478"/>
                </a:solidFill>
                <a:latin typeface="Calibri (MS)"/>
                <a:ea typeface="Calibri (MS)"/>
                <a:cs typeface="Calibri (MS)"/>
                <a:sym typeface="Calibri (MS)"/>
              </a:rPr>
              <a:t>How old and how important each device’s data is</a:t>
            </a:r>
          </a:p>
        </p:txBody>
      </p:sp>
      <p:sp>
        <p:nvSpPr>
          <p:cNvPr name="AutoShape 27" id="27"/>
          <p:cNvSpPr/>
          <p:nvPr/>
        </p:nvSpPr>
        <p:spPr>
          <a:xfrm rot="274020">
            <a:off x="7167372" y="4311015"/>
            <a:ext cx="478526" cy="0"/>
          </a:xfrm>
          <a:prstGeom prst="line">
            <a:avLst/>
          </a:prstGeom>
          <a:ln cap="rnd" w="19050">
            <a:solidFill>
              <a:srgbClr val="8A90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7657147" y="3405188"/>
            <a:ext cx="2927985" cy="1830705"/>
            <a:chOff x="0" y="0"/>
            <a:chExt cx="3903980" cy="24409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03980" cy="2440940"/>
            </a:xfrm>
            <a:custGeom>
              <a:avLst/>
              <a:gdLst/>
              <a:ahLst/>
              <a:cxnLst/>
              <a:rect r="r" b="b" t="t" l="l"/>
              <a:pathLst>
                <a:path h="2440940" w="3903980">
                  <a:moveTo>
                    <a:pt x="0" y="281686"/>
                  </a:moveTo>
                  <a:cubicBezTo>
                    <a:pt x="0" y="126111"/>
                    <a:pt x="126111" y="0"/>
                    <a:pt x="281686" y="0"/>
                  </a:cubicBezTo>
                  <a:lnTo>
                    <a:pt x="3622294" y="0"/>
                  </a:lnTo>
                  <a:cubicBezTo>
                    <a:pt x="3777869" y="0"/>
                    <a:pt x="3903980" y="126111"/>
                    <a:pt x="3903980" y="281686"/>
                  </a:cubicBezTo>
                  <a:lnTo>
                    <a:pt x="3903980" y="2159254"/>
                  </a:lnTo>
                  <a:cubicBezTo>
                    <a:pt x="3903980" y="2314829"/>
                    <a:pt x="3777869" y="2440940"/>
                    <a:pt x="3622294" y="2440940"/>
                  </a:cubicBezTo>
                  <a:lnTo>
                    <a:pt x="281686" y="2440940"/>
                  </a:lnTo>
                  <a:cubicBezTo>
                    <a:pt x="126111" y="2440940"/>
                    <a:pt x="0" y="2314829"/>
                    <a:pt x="0" y="2159254"/>
                  </a:cubicBezTo>
                  <a:close/>
                </a:path>
              </a:pathLst>
            </a:custGeom>
            <a:solidFill>
              <a:srgbClr val="F1F4FA"/>
            </a:solidFill>
            <a:ln w="47625" cap="sq">
              <a:solidFill>
                <a:srgbClr val="22B57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680960" y="3429000"/>
            <a:ext cx="2880360" cy="1783080"/>
            <a:chOff x="0" y="0"/>
            <a:chExt cx="3840480" cy="2377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404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84048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PPO Agent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680960" y="5360670"/>
            <a:ext cx="288036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F6478"/>
                </a:solidFill>
                <a:latin typeface="Calibri (MS)"/>
                <a:ea typeface="Calibri (MS)"/>
                <a:cs typeface="Calibri (MS)"/>
                <a:sym typeface="Calibri (MS)"/>
              </a:rPr>
              <a:t>The AI that makes the decision</a:t>
            </a:r>
          </a:p>
        </p:txBody>
      </p:sp>
      <p:sp>
        <p:nvSpPr>
          <p:cNvPr name="AutoShape 34" id="34"/>
          <p:cNvSpPr/>
          <p:nvPr/>
        </p:nvSpPr>
        <p:spPr>
          <a:xfrm rot="274020">
            <a:off x="10596372" y="4311015"/>
            <a:ext cx="478526" cy="0"/>
          </a:xfrm>
          <a:prstGeom prst="line">
            <a:avLst/>
          </a:prstGeom>
          <a:ln cap="rnd" w="19050">
            <a:solidFill>
              <a:srgbClr val="8A90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11086148" y="3405188"/>
            <a:ext cx="2927985" cy="1830705"/>
            <a:chOff x="0" y="0"/>
            <a:chExt cx="3903980" cy="24409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03980" cy="2440940"/>
            </a:xfrm>
            <a:custGeom>
              <a:avLst/>
              <a:gdLst/>
              <a:ahLst/>
              <a:cxnLst/>
              <a:rect r="r" b="b" t="t" l="l"/>
              <a:pathLst>
                <a:path h="2440940" w="3903980">
                  <a:moveTo>
                    <a:pt x="0" y="281686"/>
                  </a:moveTo>
                  <a:cubicBezTo>
                    <a:pt x="0" y="126111"/>
                    <a:pt x="126111" y="0"/>
                    <a:pt x="281686" y="0"/>
                  </a:cubicBezTo>
                  <a:lnTo>
                    <a:pt x="3622294" y="0"/>
                  </a:lnTo>
                  <a:cubicBezTo>
                    <a:pt x="3777869" y="0"/>
                    <a:pt x="3903980" y="126111"/>
                    <a:pt x="3903980" y="281686"/>
                  </a:cubicBezTo>
                  <a:lnTo>
                    <a:pt x="3903980" y="2159254"/>
                  </a:lnTo>
                  <a:cubicBezTo>
                    <a:pt x="3903980" y="2314829"/>
                    <a:pt x="3777869" y="2440940"/>
                    <a:pt x="3622294" y="2440940"/>
                  </a:cubicBezTo>
                  <a:lnTo>
                    <a:pt x="281686" y="2440940"/>
                  </a:lnTo>
                  <a:cubicBezTo>
                    <a:pt x="126111" y="2440940"/>
                    <a:pt x="0" y="2314829"/>
                    <a:pt x="0" y="2159254"/>
                  </a:cubicBezTo>
                  <a:close/>
                </a:path>
              </a:pathLst>
            </a:custGeom>
            <a:solidFill>
              <a:srgbClr val="F1F4FA"/>
            </a:solidFill>
            <a:ln w="476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109960" y="3429000"/>
            <a:ext cx="2880360" cy="1783080"/>
            <a:chOff x="0" y="0"/>
            <a:chExt cx="3840480" cy="2377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404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84048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Select ONE Device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109960" y="5360670"/>
            <a:ext cx="288036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F6478"/>
                </a:solidFill>
                <a:latin typeface="Calibri (MS)"/>
                <a:ea typeface="Calibri (MS)"/>
                <a:cs typeface="Calibri (MS)"/>
                <a:sym typeface="Calibri (MS)"/>
              </a:rPr>
              <a:t>Only one turn is available</a:t>
            </a:r>
          </a:p>
        </p:txBody>
      </p:sp>
      <p:sp>
        <p:nvSpPr>
          <p:cNvPr name="AutoShape 41" id="41"/>
          <p:cNvSpPr/>
          <p:nvPr/>
        </p:nvSpPr>
        <p:spPr>
          <a:xfrm rot="274020">
            <a:off x="14025372" y="4311015"/>
            <a:ext cx="478526" cy="0"/>
          </a:xfrm>
          <a:prstGeom prst="line">
            <a:avLst/>
          </a:prstGeom>
          <a:ln cap="rnd" w="19050">
            <a:solidFill>
              <a:srgbClr val="8A90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14515148" y="3405188"/>
            <a:ext cx="2927985" cy="1830705"/>
            <a:chOff x="0" y="0"/>
            <a:chExt cx="3903980" cy="24409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03980" cy="2440940"/>
            </a:xfrm>
            <a:custGeom>
              <a:avLst/>
              <a:gdLst/>
              <a:ahLst/>
              <a:cxnLst/>
              <a:rect r="r" b="b" t="t" l="l"/>
              <a:pathLst>
                <a:path h="2440940" w="3903980">
                  <a:moveTo>
                    <a:pt x="0" y="281686"/>
                  </a:moveTo>
                  <a:cubicBezTo>
                    <a:pt x="0" y="126111"/>
                    <a:pt x="126111" y="0"/>
                    <a:pt x="281686" y="0"/>
                  </a:cubicBezTo>
                  <a:lnTo>
                    <a:pt x="3622294" y="0"/>
                  </a:lnTo>
                  <a:cubicBezTo>
                    <a:pt x="3777869" y="0"/>
                    <a:pt x="3903980" y="126111"/>
                    <a:pt x="3903980" y="281686"/>
                  </a:cubicBezTo>
                  <a:lnTo>
                    <a:pt x="3903980" y="2159254"/>
                  </a:lnTo>
                  <a:cubicBezTo>
                    <a:pt x="3903980" y="2314829"/>
                    <a:pt x="3777869" y="2440940"/>
                    <a:pt x="3622294" y="2440940"/>
                  </a:cubicBezTo>
                  <a:lnTo>
                    <a:pt x="281686" y="2440940"/>
                  </a:lnTo>
                  <a:cubicBezTo>
                    <a:pt x="126111" y="2440940"/>
                    <a:pt x="0" y="2314829"/>
                    <a:pt x="0" y="2159254"/>
                  </a:cubicBezTo>
                  <a:close/>
                </a:path>
              </a:pathLst>
            </a:custGeom>
            <a:solidFill>
              <a:srgbClr val="F1F4FA"/>
            </a:solidFill>
            <a:ln w="47625" cap="sq">
              <a:solidFill>
                <a:srgbClr val="17A9B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538960" y="3429000"/>
            <a:ext cx="2880360" cy="1783080"/>
            <a:chOff x="0" y="0"/>
            <a:chExt cx="3840480" cy="2377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404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84048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Transmission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4538960" y="5360670"/>
            <a:ext cx="288036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F6478"/>
                </a:solidFill>
                <a:latin typeface="Calibri (MS)"/>
                <a:ea typeface="Calibri (MS)"/>
                <a:cs typeface="Calibri (MS)"/>
                <a:sym typeface="Calibri (MS)"/>
              </a:rPr>
              <a:t>The chosen device sends its data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22960" y="7063740"/>
            <a:ext cx="8229600" cy="411480"/>
            <a:chOff x="0" y="0"/>
            <a:chExt cx="109728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0972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E88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LEARNING LOOP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822960" y="7524750"/>
            <a:ext cx="1659636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14123A"/>
                </a:solidFill>
                <a:latin typeface="Arial Bold"/>
                <a:ea typeface="Arial Bold"/>
                <a:cs typeface="Arial Bold"/>
                <a:sym typeface="Arial Bold"/>
              </a:rPr>
              <a:t>Look  →  choose  →  send  →  see what changed  →  get a score  →  learn  →  repeat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3262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University Bachupally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96360" y="9532620"/>
            <a:ext cx="891540" cy="411480"/>
            <a:chOff x="0" y="0"/>
            <a:chExt cx="118872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887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16596360" cy="1097280"/>
            <a:chOff x="0" y="0"/>
            <a:chExt cx="2212848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2848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SIMULATION &amp; RL FORMULATION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822960" y="2057400"/>
          <a:ext cx="16649700" cy="6019800"/>
        </p:xfrm>
        <a:graphic>
          <a:graphicData uri="http://schemas.openxmlformats.org/drawingml/2006/table">
            <a:tbl>
              <a:tblPr/>
              <a:tblGrid>
                <a:gridCol w="3032908"/>
                <a:gridCol w="13616792"/>
              </a:tblGrid>
              <a:tr h="6928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412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Term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412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In simple words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6"/>
                    </a:solidFill>
                  </a:tcPr>
                </a:tc>
              </a:tr>
              <a:tr h="1065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88E5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Setup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412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 virtual IoT devices, working in time slots. One device can send per slot. Importance is a number from 0 to 1.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5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7A9B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State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412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What the agent sees: the AoI and importance of every device (AoI₁, Importance₁ … AoI₁₀, Importance₁₀).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5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22B57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Action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412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Which device to pick: 0 means Device 1, 1 means Device 2, … 9 means Device 10.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5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5A6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Transition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412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The chosen device sends and becomes fresh. Every other device gets one step older.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53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E5545C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Reward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412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score that is higher when the choice balances freshness and importance well.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822960" y="8503920"/>
            <a:ext cx="16664940" cy="685800"/>
            <a:chOff x="0" y="0"/>
            <a:chExt cx="2221992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1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22219920">
                  <a:moveTo>
                    <a:pt x="0" y="0"/>
                  </a:moveTo>
                  <a:lnTo>
                    <a:pt x="22219920" y="0"/>
                  </a:lnTo>
                  <a:lnTo>
                    <a:pt x="2221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3486" r="0" b="-42348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22199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One state  →  one action  →  one change  →  one reward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3262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University Bachupally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96360" y="9532620"/>
            <a:ext cx="891540" cy="411480"/>
            <a:chOff x="0" y="0"/>
            <a:chExt cx="118872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887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16596360" cy="1097280"/>
            <a:chOff x="0" y="0"/>
            <a:chExt cx="2212848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2848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PPO-BASED SCHEDULING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783080"/>
            <a:ext cx="16596360" cy="548640"/>
            <a:chOff x="0" y="0"/>
            <a:chExt cx="221284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128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88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PPO = Proximal Policy Optimization, an AI method that learns by trial and error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743200"/>
            <a:ext cx="8229600" cy="411480"/>
            <a:chOff x="0" y="0"/>
            <a:chExt cx="109728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972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5F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PPO LEARNS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53540" y="3282315"/>
            <a:ext cx="1116330" cy="1116330"/>
            <a:chOff x="0" y="0"/>
            <a:chExt cx="1488440" cy="1488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1E88E5"/>
            </a:solidFill>
            <a:ln w="1905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663065" y="3291840"/>
            <a:ext cx="1097280" cy="1097280"/>
            <a:chOff x="0" y="0"/>
            <a:chExt cx="146304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77265" y="4488180"/>
            <a:ext cx="24688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2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Look at the state</a:t>
            </a:r>
          </a:p>
        </p:txBody>
      </p:sp>
      <p:sp>
        <p:nvSpPr>
          <p:cNvPr name="AutoShape 23" id="23"/>
          <p:cNvSpPr/>
          <p:nvPr/>
        </p:nvSpPr>
        <p:spPr>
          <a:xfrm rot="90660">
            <a:off x="2878207" y="3830955"/>
            <a:ext cx="1444495" cy="0"/>
          </a:xfrm>
          <a:prstGeom prst="line">
            <a:avLst/>
          </a:prstGeom>
          <a:ln cap="rnd" w="19050">
            <a:solidFill>
              <a:srgbClr val="8A90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4431030" y="3282315"/>
            <a:ext cx="1116330" cy="1116330"/>
            <a:chOff x="0" y="0"/>
            <a:chExt cx="1488440" cy="1488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22B573"/>
            </a:solidFill>
            <a:ln w="19050" cap="sq">
              <a:solidFill>
                <a:srgbClr val="22B57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440555" y="3291840"/>
            <a:ext cx="1097280" cy="1097280"/>
            <a:chOff x="0" y="0"/>
            <a:chExt cx="146304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3754755" y="4488180"/>
            <a:ext cx="24688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2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Pick a device</a:t>
            </a:r>
          </a:p>
        </p:txBody>
      </p:sp>
      <p:sp>
        <p:nvSpPr>
          <p:cNvPr name="AutoShape 30" id="30"/>
          <p:cNvSpPr/>
          <p:nvPr/>
        </p:nvSpPr>
        <p:spPr>
          <a:xfrm rot="90660">
            <a:off x="5655697" y="3830955"/>
            <a:ext cx="1444495" cy="0"/>
          </a:xfrm>
          <a:prstGeom prst="line">
            <a:avLst/>
          </a:prstGeom>
          <a:ln cap="rnd" w="19050">
            <a:solidFill>
              <a:srgbClr val="8A90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7208520" y="3282315"/>
            <a:ext cx="1116330" cy="1116330"/>
            <a:chOff x="0" y="0"/>
            <a:chExt cx="1488440" cy="1488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F5A623"/>
            </a:solidFill>
            <a:ln w="1905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218045" y="3291840"/>
            <a:ext cx="1097280" cy="1097280"/>
            <a:chOff x="0" y="0"/>
            <a:chExt cx="146304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532245" y="4488180"/>
            <a:ext cx="24688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2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Device sends</a:t>
            </a:r>
          </a:p>
        </p:txBody>
      </p:sp>
      <p:sp>
        <p:nvSpPr>
          <p:cNvPr name="AutoShape 37" id="37"/>
          <p:cNvSpPr/>
          <p:nvPr/>
        </p:nvSpPr>
        <p:spPr>
          <a:xfrm rot="90660">
            <a:off x="8433187" y="3830955"/>
            <a:ext cx="1444495" cy="0"/>
          </a:xfrm>
          <a:prstGeom prst="line">
            <a:avLst/>
          </a:prstGeom>
          <a:ln cap="rnd" w="19050">
            <a:solidFill>
              <a:srgbClr val="8A90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9986010" y="3282315"/>
            <a:ext cx="1116330" cy="1116330"/>
            <a:chOff x="0" y="0"/>
            <a:chExt cx="1488440" cy="1488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17A9BA"/>
            </a:solidFill>
            <a:ln w="19050" cap="sq">
              <a:solidFill>
                <a:srgbClr val="17A9B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995535" y="3291840"/>
            <a:ext cx="1097280" cy="1097280"/>
            <a:chOff x="0" y="0"/>
            <a:chExt cx="146304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309735" y="4488180"/>
            <a:ext cx="24688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2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State changes</a:t>
            </a:r>
          </a:p>
        </p:txBody>
      </p:sp>
      <p:sp>
        <p:nvSpPr>
          <p:cNvPr name="AutoShape 44" id="44"/>
          <p:cNvSpPr/>
          <p:nvPr/>
        </p:nvSpPr>
        <p:spPr>
          <a:xfrm rot="90660">
            <a:off x="11210677" y="3830955"/>
            <a:ext cx="1444495" cy="0"/>
          </a:xfrm>
          <a:prstGeom prst="line">
            <a:avLst/>
          </a:prstGeom>
          <a:ln cap="rnd" w="19050">
            <a:solidFill>
              <a:srgbClr val="8A90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5" id="45"/>
          <p:cNvGrpSpPr/>
          <p:nvPr/>
        </p:nvGrpSpPr>
        <p:grpSpPr>
          <a:xfrm rot="0">
            <a:off x="12763500" y="3282315"/>
            <a:ext cx="1116330" cy="1116330"/>
            <a:chOff x="0" y="0"/>
            <a:chExt cx="1488440" cy="1488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22B573"/>
            </a:solidFill>
            <a:ln w="19050" cap="sq">
              <a:solidFill>
                <a:srgbClr val="22B573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773025" y="3291840"/>
            <a:ext cx="1097280" cy="1097280"/>
            <a:chOff x="0" y="0"/>
            <a:chExt cx="146304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2087225" y="4488180"/>
            <a:ext cx="24688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2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Get a reward</a:t>
            </a:r>
          </a:p>
        </p:txBody>
      </p:sp>
      <p:sp>
        <p:nvSpPr>
          <p:cNvPr name="AutoShape 51" id="51"/>
          <p:cNvSpPr/>
          <p:nvPr/>
        </p:nvSpPr>
        <p:spPr>
          <a:xfrm rot="90660">
            <a:off x="13988167" y="3830955"/>
            <a:ext cx="1444495" cy="0"/>
          </a:xfrm>
          <a:prstGeom prst="line">
            <a:avLst/>
          </a:prstGeom>
          <a:ln cap="rnd" w="19050">
            <a:solidFill>
              <a:srgbClr val="8A90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2" id="52"/>
          <p:cNvGrpSpPr/>
          <p:nvPr/>
        </p:nvGrpSpPr>
        <p:grpSpPr>
          <a:xfrm rot="0">
            <a:off x="15540990" y="3282315"/>
            <a:ext cx="1116330" cy="1116330"/>
            <a:chOff x="0" y="0"/>
            <a:chExt cx="1488440" cy="1488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1E88E5"/>
            </a:solidFill>
            <a:ln w="1905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550515" y="3291840"/>
            <a:ext cx="1097280" cy="1097280"/>
            <a:chOff x="0" y="0"/>
            <a:chExt cx="1463040" cy="1463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4864715" y="4488180"/>
            <a:ext cx="24688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412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Improve the policy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22960" y="5897880"/>
            <a:ext cx="7955280" cy="480060"/>
            <a:chOff x="0" y="0"/>
            <a:chExt cx="10607040" cy="6400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070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6070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88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PPO?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822960" y="6398895"/>
            <a:ext cx="7955280" cy="265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It learns by trying, getting a score, and improving.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It finds the balance between freshness and importance by itself, so we don’t have to hand-pick a formula.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601200" y="5897880"/>
            <a:ext cx="7818120" cy="480060"/>
            <a:chOff x="0" y="0"/>
            <a:chExt cx="1042416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424160" cy="640080"/>
            </a:xfrm>
            <a:custGeom>
              <a:avLst/>
              <a:gdLst/>
              <a:ahLst/>
              <a:cxnLst/>
              <a:rect r="r" b="b" t="t" l="l"/>
              <a:pathLst>
                <a:path h="6400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327" r="0" b="-26732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42416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WE CHECK IT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9601200" y="6398895"/>
            <a:ext cx="7818120" cy="265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412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PPO training reward curve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If the line goes up during training, the scheduler is getting smarter.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3262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University Bachupally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96360" y="9532620"/>
            <a:ext cx="891540" cy="411480"/>
            <a:chOff x="0" y="0"/>
            <a:chExt cx="118872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887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16596360" cy="1097280"/>
            <a:chOff x="0" y="0"/>
            <a:chExt cx="2212848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2848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BASELINE METHODS &amp; EVALUATION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645920"/>
            <a:ext cx="16459200" cy="548640"/>
            <a:chOff x="0" y="0"/>
            <a:chExt cx="219456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412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 compare PPO against three simple rules.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822960" y="2468880"/>
          <a:ext cx="16649700" cy="3962400"/>
        </p:xfrm>
        <a:graphic>
          <a:graphicData uri="http://schemas.openxmlformats.org/drawingml/2006/table">
            <a:tbl>
              <a:tblPr/>
              <a:tblGrid>
                <a:gridCol w="4535137"/>
                <a:gridCol w="12114563"/>
              </a:tblGrid>
              <a:tr h="6869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412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Scheduler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412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How it decides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6"/>
                    </a:solidFill>
                  </a:tcPr>
                </a:tc>
              </a:tr>
              <a:tr h="8188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5A6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Random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412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Picks any device by chance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88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E5545C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Highest-AoI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412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Picks the device whose data is the oldest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88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22B57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Highest-Semantic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412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Picks the device whose data matters the most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88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7A9B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PPO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412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Learns from experience what the best choice is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822960" y="6652260"/>
            <a:ext cx="16459200" cy="480060"/>
            <a:chOff x="0" y="0"/>
            <a:chExt cx="2194560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8058" r="0" b="-61805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9456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88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WE MEASURE SUCCESS   (↓ lower is better,  ↑ higher is better)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7269480"/>
            <a:ext cx="3909060" cy="617220"/>
            <a:chOff x="0" y="0"/>
            <a:chExt cx="5212080" cy="822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2080" cy="822960"/>
            </a:xfrm>
            <a:custGeom>
              <a:avLst/>
              <a:gdLst/>
              <a:ahLst/>
              <a:cxnLst/>
              <a:rect r="r" b="b" t="t" l="l"/>
              <a:pathLst>
                <a:path h="8229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212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Average AoI ↓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22960" y="7917180"/>
            <a:ext cx="390906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F6478"/>
                </a:solidFill>
                <a:latin typeface="Calibri (MS)"/>
                <a:ea typeface="Calibri (MS)"/>
                <a:cs typeface="Calibri (MS)"/>
                <a:sym typeface="Calibri (MS)"/>
              </a:rPr>
              <a:t>How fresh data is overall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006340" y="7269480"/>
            <a:ext cx="3909060" cy="617220"/>
            <a:chOff x="0" y="0"/>
            <a:chExt cx="521208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2080" cy="822960"/>
            </a:xfrm>
            <a:custGeom>
              <a:avLst/>
              <a:gdLst/>
              <a:ahLst/>
              <a:cxnLst/>
              <a:rect r="r" b="b" t="t" l="l"/>
              <a:pathLst>
                <a:path h="8229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212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Peak AoI ↓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006340" y="7917180"/>
            <a:ext cx="390906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F6478"/>
                </a:solidFill>
                <a:latin typeface="Calibri (MS)"/>
                <a:ea typeface="Calibri (MS)"/>
                <a:cs typeface="Calibri (MS)"/>
                <a:sym typeface="Calibri (MS)"/>
              </a:rPr>
              <a:t>The oldest data ever seen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89720" y="7269480"/>
            <a:ext cx="3909060" cy="617220"/>
            <a:chOff x="0" y="0"/>
            <a:chExt cx="521208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12080" cy="822960"/>
            </a:xfrm>
            <a:custGeom>
              <a:avLst/>
              <a:gdLst/>
              <a:ahLst/>
              <a:cxnLst/>
              <a:rect r="r" b="b" t="t" l="l"/>
              <a:pathLst>
                <a:path h="8229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212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Semantic Utility ↑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89720" y="7917180"/>
            <a:ext cx="390906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F6478"/>
                </a:solidFill>
                <a:latin typeface="Calibri (MS)"/>
                <a:ea typeface="Calibri (MS)"/>
                <a:cs typeface="Calibri (MS)"/>
                <a:sym typeface="Calibri (MS)"/>
              </a:rPr>
              <a:t>How much important data got delivered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373100" y="7269480"/>
            <a:ext cx="3909060" cy="617220"/>
            <a:chOff x="0" y="0"/>
            <a:chExt cx="521208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12080" cy="822960"/>
            </a:xfrm>
            <a:custGeom>
              <a:avLst/>
              <a:gdLst/>
              <a:ahLst/>
              <a:cxnLst/>
              <a:rect r="r" b="b" t="t" l="l"/>
              <a:pathLst>
                <a:path h="8229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2120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Overall Reward ↑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3373100" y="7917180"/>
            <a:ext cx="390906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F6478"/>
                </a:solidFill>
                <a:latin typeface="Calibri (MS)"/>
                <a:ea typeface="Calibri (MS)"/>
                <a:cs typeface="Calibri (MS)"/>
                <a:sym typeface="Calibri (MS)"/>
              </a:rPr>
              <a:t>The total score from the reward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3262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University Bachupally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96360" y="9532620"/>
            <a:ext cx="891540" cy="411480"/>
            <a:chOff x="0" y="0"/>
            <a:chExt cx="118872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887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16596360" cy="1097280"/>
            <a:chOff x="0" y="0"/>
            <a:chExt cx="2212848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2848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EXPECTED / EXPERIMENTAL RESULTS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783080"/>
            <a:ext cx="16459200" cy="548640"/>
            <a:chOff x="0" y="0"/>
            <a:chExt cx="219456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412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the four schedulers perform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822960" y="2606040"/>
          <a:ext cx="16649700" cy="4095750"/>
        </p:xfrm>
        <a:graphic>
          <a:graphicData uri="http://schemas.openxmlformats.org/drawingml/2006/table">
            <a:tbl>
              <a:tblPr/>
              <a:tblGrid>
                <a:gridCol w="4308202"/>
                <a:gridCol w="3085375"/>
                <a:gridCol w="3085375"/>
                <a:gridCol w="3085375"/>
                <a:gridCol w="3085375"/>
              </a:tblGrid>
              <a:tr h="7459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Avg AoI 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Peak AoI 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 Utility ↑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Reward ↑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6"/>
                    </a:solidFill>
                  </a:tcPr>
                </a:tc>
              </a:tr>
              <a:tr h="8374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8.740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47.52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0.477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30.223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74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Highest-AoI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4.509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10.66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0.478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38.809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74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Highest-Semantic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40.486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0.906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9.599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74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PPO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9.157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35.80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52.701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822960" y="7212330"/>
            <a:ext cx="1666494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we look for: </a:t>
            </a:r>
            <a:r>
              <a:rPr lang="en-US" sz="28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does PPO keep data fresh and deliver important data better than the single-rule schedulers?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2960" y="8309610"/>
            <a:ext cx="1666494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i="true">
                <a:solidFill>
                  <a:srgbClr val="5F647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All numbers and improvement percentages come directly from our simulation. Nothing is assumed or made up.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981928"/>
            <a:ext cx="5671245" cy="3458637"/>
          </a:xfrm>
          <a:custGeom>
            <a:avLst/>
            <a:gdLst/>
            <a:ahLst/>
            <a:cxnLst/>
            <a:rect r="r" b="b" t="t" l="l"/>
            <a:pathLst>
              <a:path h="3458637" w="5671245">
                <a:moveTo>
                  <a:pt x="0" y="0"/>
                </a:moveTo>
                <a:lnTo>
                  <a:pt x="5671245" y="0"/>
                </a:lnTo>
                <a:lnTo>
                  <a:pt x="5671245" y="3458638"/>
                </a:lnTo>
                <a:lnTo>
                  <a:pt x="0" y="3458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05" r="0" b="-27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29833" y="2081774"/>
            <a:ext cx="5503296" cy="3537833"/>
          </a:xfrm>
          <a:custGeom>
            <a:avLst/>
            <a:gdLst/>
            <a:ahLst/>
            <a:cxnLst/>
            <a:rect r="r" b="b" t="t" l="l"/>
            <a:pathLst>
              <a:path h="3537833" w="5503296">
                <a:moveTo>
                  <a:pt x="0" y="0"/>
                </a:moveTo>
                <a:lnTo>
                  <a:pt x="5503296" y="0"/>
                </a:lnTo>
                <a:lnTo>
                  <a:pt x="5503296" y="3537833"/>
                </a:lnTo>
                <a:lnTo>
                  <a:pt x="0" y="3537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9200" y="6463465"/>
            <a:ext cx="5369871" cy="3452060"/>
          </a:xfrm>
          <a:custGeom>
            <a:avLst/>
            <a:gdLst/>
            <a:ahLst/>
            <a:cxnLst/>
            <a:rect r="r" b="b" t="t" l="l"/>
            <a:pathLst>
              <a:path h="3452060" w="5369871">
                <a:moveTo>
                  <a:pt x="0" y="0"/>
                </a:moveTo>
                <a:lnTo>
                  <a:pt x="5369871" y="0"/>
                </a:lnTo>
                <a:lnTo>
                  <a:pt x="5369871" y="3452060"/>
                </a:lnTo>
                <a:lnTo>
                  <a:pt x="0" y="3452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29833" y="6320590"/>
            <a:ext cx="5930058" cy="3812180"/>
          </a:xfrm>
          <a:custGeom>
            <a:avLst/>
            <a:gdLst/>
            <a:ahLst/>
            <a:cxnLst/>
            <a:rect r="r" b="b" t="t" l="l"/>
            <a:pathLst>
              <a:path h="3812180" w="5930058">
                <a:moveTo>
                  <a:pt x="0" y="0"/>
                </a:moveTo>
                <a:lnTo>
                  <a:pt x="5930058" y="0"/>
                </a:lnTo>
                <a:lnTo>
                  <a:pt x="5930058" y="3812180"/>
                </a:lnTo>
                <a:lnTo>
                  <a:pt x="0" y="3812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9200" y="628650"/>
            <a:ext cx="163250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SIMULATION OUTPUT GRAPHS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1457325"/>
            <a:ext cx="8162544" cy="36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AVERAGE AoI COMPARISON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1457325"/>
            <a:ext cx="8162544" cy="36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PEAK AoI COMPARISON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5063433"/>
            <a:ext cx="8162544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6578"/>
                </a:solidFill>
                <a:latin typeface="Arial"/>
                <a:ea typeface="Arial"/>
                <a:cs typeface="Arial"/>
                <a:sym typeface="Arial"/>
              </a:rPr>
              <a:t>Paste the peak AoI graph generated by my project.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200" y="5762482"/>
            <a:ext cx="8162544" cy="36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SEMANTIC UTILITY COMPARISON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96756" y="5800582"/>
            <a:ext cx="8162544" cy="36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CUMULATIVE REWARD COMPARISON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619250"/>
            <a:ext cx="9829800" cy="702916"/>
            <a:chOff x="0" y="0"/>
            <a:chExt cx="13106400" cy="937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06400" cy="937260"/>
            </a:xfrm>
            <a:custGeom>
              <a:avLst/>
              <a:gdLst/>
              <a:ahLst/>
              <a:cxnLst/>
              <a:rect r="r" b="b" t="t" l="l"/>
              <a:pathLst>
                <a:path h="937260" w="13106400">
                  <a:moveTo>
                    <a:pt x="0" y="0"/>
                  </a:moveTo>
                  <a:lnTo>
                    <a:pt x="13106400" y="0"/>
                  </a:lnTo>
                  <a:lnTo>
                    <a:pt x="13106400" y="937260"/>
                  </a:lnTo>
                  <a:lnTo>
                    <a:pt x="0" y="9372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106400" cy="97532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535"/>
                </a:lnSpc>
              </a:pPr>
              <a:r>
                <a:rPr lang="en-US" sz="1950" b="true">
                  <a:solidFill>
                    <a:srgbClr val="1D4E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Random:</a:t>
              </a:r>
              <a:r>
                <a:rPr lang="en-US" sz="195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Provides a basic reference for comparison.</a:t>
              </a:r>
            </a:p>
          </p:txBody>
        </p:sp>
      </p:grpSp>
      <p:sp>
        <p:nvSpPr>
          <p:cNvPr name="AutoShape 5" id="5"/>
          <p:cNvSpPr/>
          <p:nvPr/>
        </p:nvSpPr>
        <p:spPr>
          <a:xfrm rot="5142000">
            <a:off x="866670" y="1956416"/>
            <a:ext cx="762210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219200" y="2436466"/>
            <a:ext cx="8162544" cy="1024830"/>
            <a:chOff x="0" y="0"/>
            <a:chExt cx="10883392" cy="1366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83392" cy="1366389"/>
            </a:xfrm>
            <a:custGeom>
              <a:avLst/>
              <a:gdLst/>
              <a:ahLst/>
              <a:cxnLst/>
              <a:rect r="r" b="b" t="t" l="l"/>
              <a:pathLst>
                <a:path h="1366389" w="10883392">
                  <a:moveTo>
                    <a:pt x="0" y="0"/>
                  </a:moveTo>
                  <a:lnTo>
                    <a:pt x="10883392" y="0"/>
                  </a:lnTo>
                  <a:lnTo>
                    <a:pt x="10883392" y="1366389"/>
                  </a:lnTo>
                  <a:lnTo>
                    <a:pt x="0" y="13663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883392" cy="140454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535"/>
                </a:lnSpc>
              </a:pPr>
              <a:r>
                <a:rPr lang="en-US" sz="1950" b="true">
                  <a:solidFill>
                    <a:srgbClr val="1D4E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Highest-AoI:</a:t>
              </a:r>
              <a:r>
                <a:rPr lang="en-US" sz="195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Prioritizes the stalest information and achieves the lowest average and peak AoI.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5218560">
            <a:off x="706031" y="2934595"/>
            <a:ext cx="1083488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219200" y="3575599"/>
            <a:ext cx="7338914" cy="1024830"/>
            <a:chOff x="0" y="0"/>
            <a:chExt cx="9785219" cy="1366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85219" cy="1366389"/>
            </a:xfrm>
            <a:custGeom>
              <a:avLst/>
              <a:gdLst/>
              <a:ahLst/>
              <a:cxnLst/>
              <a:rect r="r" b="b" t="t" l="l"/>
              <a:pathLst>
                <a:path h="1366389" w="9785219">
                  <a:moveTo>
                    <a:pt x="0" y="0"/>
                  </a:moveTo>
                  <a:lnTo>
                    <a:pt x="9785219" y="0"/>
                  </a:lnTo>
                  <a:lnTo>
                    <a:pt x="9785219" y="1366389"/>
                  </a:lnTo>
                  <a:lnTo>
                    <a:pt x="0" y="13663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785219" cy="140454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535"/>
                </a:lnSpc>
              </a:pPr>
              <a:r>
                <a:rPr lang="en-US" sz="1950" b="true">
                  <a:solidFill>
                    <a:srgbClr val="1D4E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Highest-Semantic:</a:t>
              </a:r>
              <a:r>
                <a:rPr lang="en-US" sz="195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Achieves the highest semantic utility, but its average AoI is very high.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5218560">
            <a:off x="706031" y="4073719"/>
            <a:ext cx="1083488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219200" y="4714723"/>
            <a:ext cx="7338914" cy="1101481"/>
            <a:chOff x="0" y="0"/>
            <a:chExt cx="9785219" cy="14686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85219" cy="1468586"/>
            </a:xfrm>
            <a:custGeom>
              <a:avLst/>
              <a:gdLst/>
              <a:ahLst/>
              <a:cxnLst/>
              <a:rect r="r" b="b" t="t" l="l"/>
              <a:pathLst>
                <a:path h="1468586" w="9785219">
                  <a:moveTo>
                    <a:pt x="0" y="0"/>
                  </a:moveTo>
                  <a:lnTo>
                    <a:pt x="9785219" y="0"/>
                  </a:lnTo>
                  <a:lnTo>
                    <a:pt x="9785219" y="1468586"/>
                  </a:lnTo>
                  <a:lnTo>
                    <a:pt x="0" y="14685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785219" cy="150674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535"/>
                </a:lnSpc>
              </a:pPr>
              <a:r>
                <a:rPr lang="en-US" sz="1950" b="true">
                  <a:solidFill>
                    <a:srgbClr val="1D4E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 PPO:</a:t>
              </a:r>
              <a:r>
                <a:rPr lang="en-US" sz="195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Achieves the highest cumulative reward under the implemented reward function, with semantic utility of 0.699 and average AoI of 8.682.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5218560">
            <a:off x="706031" y="5212852"/>
            <a:ext cx="1083488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19200" y="6679837"/>
            <a:ext cx="15849600" cy="1613449"/>
            <a:chOff x="0" y="0"/>
            <a:chExt cx="21132800" cy="21512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132800" cy="2151253"/>
            </a:xfrm>
            <a:custGeom>
              <a:avLst/>
              <a:gdLst/>
              <a:ahLst/>
              <a:cxnLst/>
              <a:rect r="r" b="b" t="t" l="l"/>
              <a:pathLst>
                <a:path h="2151253" w="21132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0980400" y="0"/>
                  </a:lnTo>
                  <a:cubicBezTo>
                    <a:pt x="21064601" y="0"/>
                    <a:pt x="21132800" y="68199"/>
                    <a:pt x="21132800" y="152400"/>
                  </a:cubicBezTo>
                  <a:lnTo>
                    <a:pt x="21132800" y="1998853"/>
                  </a:lnTo>
                  <a:cubicBezTo>
                    <a:pt x="21132800" y="2083054"/>
                    <a:pt x="21064601" y="2151253"/>
                    <a:pt x="20980400" y="2151253"/>
                  </a:cubicBezTo>
                  <a:lnTo>
                    <a:pt x="152400" y="2151253"/>
                  </a:lnTo>
                  <a:cubicBezTo>
                    <a:pt x="68199" y="2151253"/>
                    <a:pt x="0" y="2083054"/>
                    <a:pt x="0" y="1998853"/>
                  </a:cubicBezTo>
                  <a:close/>
                </a:path>
              </a:pathLst>
            </a:custGeom>
            <a:solidFill>
              <a:srgbClr val="8A90A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1132800" cy="2189366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7F9FC"/>
                  </a:solidFill>
                  <a:latin typeface="Arial"/>
                  <a:ea typeface="Arial"/>
                  <a:cs typeface="Arial"/>
                  <a:sym typeface="Arial"/>
                </a:rPr>
                <a:t>The results show a trade-off between information freshness and semantic importance. PPO achieved the highest cumulative reward under the implemented objective, while Highest-AoI performed best on freshness metrics and Highest-Semantic performed best on semantic utility.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9103877" y="762000"/>
            <a:ext cx="8440411" cy="5425978"/>
          </a:xfrm>
          <a:custGeom>
            <a:avLst/>
            <a:gdLst/>
            <a:ahLst/>
            <a:cxnLst/>
            <a:rect r="r" b="b" t="t" l="l"/>
            <a:pathLst>
              <a:path h="5425978" w="8440411">
                <a:moveTo>
                  <a:pt x="0" y="0"/>
                </a:moveTo>
                <a:lnTo>
                  <a:pt x="8440411" y="0"/>
                </a:lnTo>
                <a:lnTo>
                  <a:pt x="8440411" y="5425978"/>
                </a:lnTo>
                <a:lnTo>
                  <a:pt x="0" y="542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19200" y="781050"/>
            <a:ext cx="163250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OUTPUT 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9200" y="8781755"/>
            <a:ext cx="16325088" cy="73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6578"/>
                </a:solidFill>
                <a:latin typeface="Arial"/>
                <a:ea typeface="Arial"/>
                <a:cs typeface="Arial"/>
                <a:sym typeface="Arial"/>
              </a:rPr>
              <a:t>Evaluation used 50 episodes per scheduling method, with 10 virtual IoT devices and 200 time steps per episode. Semantic importance values are synthetically generated in the current implementation.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3262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University Bachupally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96360" y="9532620"/>
            <a:ext cx="891540" cy="411480"/>
            <a:chOff x="0" y="0"/>
            <a:chExt cx="118872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887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5F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16596360" cy="1097280"/>
            <a:chOff x="0" y="0"/>
            <a:chExt cx="2212848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2848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CONTRIBUTION &amp; CONCLUSION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057400"/>
            <a:ext cx="8229600" cy="411480"/>
            <a:chOff x="0" y="0"/>
            <a:chExt cx="10972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E88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DID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3435" y="2719959"/>
            <a:ext cx="540258" cy="540258"/>
            <a:chOff x="0" y="0"/>
            <a:chExt cx="720344" cy="7203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2B573"/>
            </a:solidFill>
            <a:ln w="19050" cap="sq">
              <a:solidFill>
                <a:srgbClr val="22B57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2729484"/>
            <a:ext cx="521208" cy="521208"/>
            <a:chOff x="0" y="0"/>
            <a:chExt cx="694944" cy="6949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94944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5920" y="2674620"/>
            <a:ext cx="8092440" cy="630936"/>
            <a:chOff x="0" y="0"/>
            <a:chExt cx="10789920" cy="8412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89920" cy="841248"/>
            </a:xfrm>
            <a:custGeom>
              <a:avLst/>
              <a:gdLst/>
              <a:ahLst/>
              <a:cxnLst/>
              <a:rect r="r" b="b" t="t" l="l"/>
              <a:pathLst>
                <a:path h="841248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916" r="0" b="-19991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78992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412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a simulated IoT scheduling environment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13435" y="3652647"/>
            <a:ext cx="540258" cy="540258"/>
            <a:chOff x="0" y="0"/>
            <a:chExt cx="720344" cy="7203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2B573"/>
            </a:solidFill>
            <a:ln w="19050" cap="sq">
              <a:solidFill>
                <a:srgbClr val="22B57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3662172"/>
            <a:ext cx="521208" cy="521208"/>
            <a:chOff x="0" y="0"/>
            <a:chExt cx="694944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94944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45920" y="3607308"/>
            <a:ext cx="8092440" cy="630936"/>
            <a:chOff x="0" y="0"/>
            <a:chExt cx="10789920" cy="8412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89920" cy="841248"/>
            </a:xfrm>
            <a:custGeom>
              <a:avLst/>
              <a:gdLst/>
              <a:ahLst/>
              <a:cxnLst/>
              <a:rect r="r" b="b" t="t" l="l"/>
              <a:pathLst>
                <a:path h="841248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916" r="0" b="-19991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78992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412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Modeled data freshness (AoI) and importance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13435" y="4585335"/>
            <a:ext cx="540258" cy="540258"/>
            <a:chOff x="0" y="0"/>
            <a:chExt cx="720344" cy="7203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2B573"/>
            </a:solidFill>
            <a:ln w="19050" cap="sq">
              <a:solidFill>
                <a:srgbClr val="22B57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4594860"/>
            <a:ext cx="521208" cy="521208"/>
            <a:chOff x="0" y="0"/>
            <a:chExt cx="694944" cy="6949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94944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45920" y="4539996"/>
            <a:ext cx="8092440" cy="630936"/>
            <a:chOff x="0" y="0"/>
            <a:chExt cx="10789920" cy="8412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89920" cy="841248"/>
            </a:xfrm>
            <a:custGeom>
              <a:avLst/>
              <a:gdLst/>
              <a:ahLst/>
              <a:cxnLst/>
              <a:rect r="r" b="b" t="t" l="l"/>
              <a:pathLst>
                <a:path h="841248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916" r="0" b="-19991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78992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412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Turned scheduling into a reinforcement learning problem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3435" y="5518023"/>
            <a:ext cx="540258" cy="540258"/>
            <a:chOff x="0" y="0"/>
            <a:chExt cx="720344" cy="7203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2B573"/>
            </a:solidFill>
            <a:ln w="19050" cap="sq">
              <a:solidFill>
                <a:srgbClr val="22B57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5527548"/>
            <a:ext cx="521208" cy="521208"/>
            <a:chOff x="0" y="0"/>
            <a:chExt cx="694944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94944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45920" y="5472684"/>
            <a:ext cx="8092440" cy="630936"/>
            <a:chOff x="0" y="0"/>
            <a:chExt cx="10789920" cy="8412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89920" cy="841248"/>
            </a:xfrm>
            <a:custGeom>
              <a:avLst/>
              <a:gdLst/>
              <a:ahLst/>
              <a:cxnLst/>
              <a:rect r="r" b="b" t="t" l="l"/>
              <a:pathLst>
                <a:path h="841248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916" r="0" b="-19991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78992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412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Implemented a PPO-based scheduler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13435" y="6450711"/>
            <a:ext cx="540258" cy="540258"/>
            <a:chOff x="0" y="0"/>
            <a:chExt cx="720344" cy="7203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2B573"/>
            </a:solidFill>
            <a:ln w="19050" cap="sq">
              <a:solidFill>
                <a:srgbClr val="22B573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6460236"/>
            <a:ext cx="521208" cy="521208"/>
            <a:chOff x="0" y="0"/>
            <a:chExt cx="694944" cy="694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694944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45920" y="6405372"/>
            <a:ext cx="8092440" cy="630936"/>
            <a:chOff x="0" y="0"/>
            <a:chExt cx="10789920" cy="8412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89920" cy="841248"/>
            </a:xfrm>
            <a:custGeom>
              <a:avLst/>
              <a:gdLst/>
              <a:ahLst/>
              <a:cxnLst/>
              <a:rect r="r" b="b" t="t" l="l"/>
              <a:pathLst>
                <a:path h="841248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916" r="0" b="-19991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78992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412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Implemented Random, Highest-AoI and Highest-Semantic rules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13435" y="7383399"/>
            <a:ext cx="540258" cy="540258"/>
            <a:chOff x="0" y="0"/>
            <a:chExt cx="720344" cy="7203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2B573"/>
            </a:solidFill>
            <a:ln w="19050" cap="sq">
              <a:solidFill>
                <a:srgbClr val="22B573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7392924"/>
            <a:ext cx="521208" cy="521208"/>
            <a:chOff x="0" y="0"/>
            <a:chExt cx="694944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94944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45920" y="7338060"/>
            <a:ext cx="8092440" cy="630936"/>
            <a:chOff x="0" y="0"/>
            <a:chExt cx="10789920" cy="8412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89920" cy="841248"/>
            </a:xfrm>
            <a:custGeom>
              <a:avLst/>
              <a:gdLst/>
              <a:ahLst/>
              <a:cxnLst/>
              <a:rect r="r" b="b" t="t" l="l"/>
              <a:pathLst>
                <a:path h="841248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916" r="0" b="-19991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789920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412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Designed an experiment to compare all the methods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561320" y="2057400"/>
            <a:ext cx="6858000" cy="411480"/>
            <a:chOff x="0" y="0"/>
            <a:chExt cx="91440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E88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GOAL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0561320" y="2655570"/>
            <a:ext cx="6926580" cy="358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123A"/>
                </a:solidFill>
                <a:latin typeface="Arial Bold"/>
                <a:ea typeface="Arial Bold"/>
                <a:cs typeface="Arial Bold"/>
                <a:sym typeface="Arial Bold"/>
              </a:rPr>
              <a:t>“To find out whether PPO can learn to prioritize IoT devices smartly, by weighing freshness and importance when only a few transmission turns are available.”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0561320" y="6515100"/>
            <a:ext cx="6858000" cy="411480"/>
            <a:chOff x="0" y="0"/>
            <a:chExt cx="91440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E88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DELIVERABLES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0561320" y="6947535"/>
            <a:ext cx="69265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4123A"/>
                </a:solidFill>
                <a:latin typeface="Calibri (MS)"/>
                <a:ea typeface="Calibri (MS)"/>
                <a:cs typeface="Calibri (MS)"/>
                <a:sym typeface="Calibri (MS)"/>
              </a:rPr>
              <a:t>Simulation  •  Baselines  •  PPO  •  Evaluation  •  Results  •  Analysis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813435" y="8357235"/>
            <a:ext cx="16683990" cy="910590"/>
            <a:chOff x="0" y="0"/>
            <a:chExt cx="22245320" cy="12141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245321" cy="1214120"/>
            </a:xfrm>
            <a:custGeom>
              <a:avLst/>
              <a:gdLst/>
              <a:ahLst/>
              <a:cxnLst/>
              <a:rect r="r" b="b" t="t" l="l"/>
              <a:pathLst>
                <a:path h="1214120" w="22245321">
                  <a:moveTo>
                    <a:pt x="0" y="280162"/>
                  </a:moveTo>
                  <a:cubicBezTo>
                    <a:pt x="0" y="125476"/>
                    <a:pt x="125476" y="0"/>
                    <a:pt x="280162" y="0"/>
                  </a:cubicBezTo>
                  <a:lnTo>
                    <a:pt x="21965158" y="0"/>
                  </a:lnTo>
                  <a:cubicBezTo>
                    <a:pt x="22119845" y="0"/>
                    <a:pt x="22245321" y="125476"/>
                    <a:pt x="22245321" y="280162"/>
                  </a:cubicBezTo>
                  <a:lnTo>
                    <a:pt x="22245321" y="933958"/>
                  </a:lnTo>
                  <a:cubicBezTo>
                    <a:pt x="22245321" y="1088644"/>
                    <a:pt x="22119845" y="1214120"/>
                    <a:pt x="21965158" y="1214120"/>
                  </a:cubicBezTo>
                  <a:lnTo>
                    <a:pt x="280162" y="1214120"/>
                  </a:lnTo>
                  <a:cubicBezTo>
                    <a:pt x="125476" y="1214120"/>
                    <a:pt x="0" y="1088644"/>
                    <a:pt x="0" y="933958"/>
                  </a:cubicBezTo>
                  <a:close/>
                </a:path>
              </a:pathLst>
            </a:custGeom>
            <a:solidFill>
              <a:srgbClr val="F1F4FA"/>
            </a:solidFill>
            <a:ln w="19050" cap="sq">
              <a:solidFill>
                <a:srgbClr val="D5DBEA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822960" y="8366760"/>
            <a:ext cx="16664940" cy="891540"/>
            <a:chOff x="0" y="0"/>
            <a:chExt cx="22219920" cy="11887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2199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219920">
                  <a:moveTo>
                    <a:pt x="0" y="0"/>
                  </a:moveTo>
                  <a:lnTo>
                    <a:pt x="22219920" y="0"/>
                  </a:lnTo>
                  <a:lnTo>
                    <a:pt x="22219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220" r="0" b="-31422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222199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1412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 IoT devices  →  1 transmission turn  →  PPO learns what to prioritize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DAHYC4azJi4</dc:identifier>
  <dcterms:modified xsi:type="dcterms:W3CDTF">2011-08-01T06:04:30Z</dcterms:modified>
  <cp:revision>1</cp:revision>
</cp:coreProperties>
</file>